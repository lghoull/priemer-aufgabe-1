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Mining: Betrugserkennung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Klassifikation von E-Commerce Bestellungen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Einführung und Problemstellung</a:t>
            </a:r>
          </a:p>
          <a:p>
            <a:pPr/>
            <a:r>
              <a:t>2. Datenanalyse und -vorbereitung (CRISP-DM)</a:t>
            </a:r>
          </a:p>
          <a:p>
            <a:pPr/>
            <a:r>
              <a:t>3. Attributanalyse und Feature Engineering</a:t>
            </a:r>
          </a:p>
          <a:p>
            <a:pPr/>
            <a:r>
              <a:t>4. Modellauswahl und Training</a:t>
            </a:r>
          </a:p>
          <a:p>
            <a:pPr/>
            <a:r>
              <a:t>5. Modellbewertung und Optimierung</a:t>
            </a:r>
          </a:p>
          <a:p>
            <a:pPr/>
            <a:r>
              <a:t>6. Vorhersage und Fazit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Einführung und Problemstellung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Szenario: Betrugserkennung im Online-Handel</a:t>
            </a:r>
          </a:p>
          <a:p>
            <a:pPr lvl="1"/>
            <a:r>
              <a:t>Herausforderung: Ware gegen Geld nicht direkt umsetzbar</a:t>
            </a:r>
          </a:p>
          <a:p>
            <a:pPr lvl="1"/>
            <a:r>
              <a:t>Risiko: Bestellungen ohne Zahlungseingang</a:t>
            </a:r>
          </a:p>
          <a:p>
            <a:pPr/>
            <a:r>
              <a:t>Data Mining Aufgabe:</a:t>
            </a:r>
          </a:p>
          <a:p>
            <a:pPr lvl="1"/>
            <a:r>
              <a:t>Typ: Klassifikationsproblem (Überwachtes Lernen)</a:t>
            </a:r>
          </a:p>
          <a:p>
            <a:pPr lvl="1"/>
            <a:r>
              <a:t>Zielattribut: TARGET_BETRUG (diskret: ja/nein)</a:t>
            </a:r>
          </a:p>
          <a:p>
            <a:pPr/>
            <a:r>
              <a:t>Datensatz: 30.000 E-Commerce Bestellungen</a:t>
            </a:r>
          </a:p>
          <a:p>
            <a:pPr lvl="1"/>
            <a:r>
              <a:t>Training: 24.000 Datensätze (80% - Holdout-Methode)</a:t>
            </a:r>
          </a:p>
          <a:p>
            <a:pPr lvl="1"/>
            <a:r>
              <a:t>Test: 6.000 Datensätze (20%)</a:t>
            </a:r>
          </a:p>
          <a:p>
            <a:pPr lvl="1"/>
            <a:r>
              <a:t>Klassifizierung: 20.000 neue Bestellungen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Datenanalyse (CRISP-DM: Data Understanding)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Explorative Datenanalyse der Trainingsdaten:</a:t>
            </a:r>
          </a:p>
          <a:p>
            <a:pPr lvl="1"/>
            <a:r>
              <a:t>30.000 Bestellungen mit 43 Attributen</a:t>
            </a:r>
          </a:p>
          <a:p>
            <a:pPr lvl="1"/>
            <a:r>
              <a:t>Zielattribut TARGET_BETRUG analysiert</a:t>
            </a:r>
          </a:p>
          <a:p>
            <a:pPr/>
            <a:r>
              <a:t>Zentrale Erkenntnis: Stark unbalancierte Klassen</a:t>
            </a:r>
          </a:p>
          <a:p>
            <a:pPr lvl="1"/>
            <a:r>
              <a:t>Nur 1.746 Betrugsfälle (5,82%)</a:t>
            </a:r>
          </a:p>
          <a:p>
            <a:pPr lvl="1"/>
            <a:r>
              <a:t>28.254 legitime Bestellungen (94,18%)</a:t>
            </a:r>
          </a:p>
          <a:p>
            <a:pPr/>
            <a:r>
              <a:t>Implikation für Data Mining:</a:t>
            </a:r>
          </a:p>
          <a:p>
            <a:pPr lvl="1"/>
            <a:r>
              <a:t>❌ Accuracy allein als Gütemaß ungeeignet</a:t>
            </a:r>
          </a:p>
          <a:p>
            <a:pPr lvl="1"/>
            <a:r>
              <a:t>✓ Precision &amp; Recall sind entscheidend</a:t>
            </a:r>
          </a:p>
          <a:p>
            <a:pPr lvl="1"/>
            <a:r>
              <a:t>Modell könnte "immer nein" vorhersagen (94% Accuracy!)</a:t>
            </a:r>
          </a:p>
          <a:p>
            <a:pPr lvl="1"/>
            <a:r>
              <a:t>→ Betrugsfälle würden nicht erkannt werden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Attributanalyse &amp; Feature Engineering (Data Preparation)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Analyse der Artikelnummer-Attribute (ANUMMER_01 bis ANUMMER_10):</a:t>
            </a:r>
          </a:p>
          <a:p>
            <a:pPr lvl="1"/>
            <a:r>
              <a:t>Repräsentieren bestellte Artikel (Artikelnummern)</a:t>
            </a:r>
          </a:p>
          <a:p>
            <a:pPr lvl="1"/>
            <a:r>
              <a:t>Datentyp: Diskret (kategorisch)</a:t>
            </a:r>
          </a:p>
          <a:p>
            <a:pPr/>
            <a:r>
              <a:t>Identifizierte Probleme:</a:t>
            </a:r>
          </a:p>
          <a:p>
            <a:pPr lvl="1"/>
            <a:r>
              <a:t>❌ Limitation: Maximal 10 Artikel erfassbar</a:t>
            </a:r>
          </a:p>
          <a:p>
            <a:pPr lvl="1"/>
            <a:r>
              <a:t>❌ Bei &gt;10 Artikeln: Datenverlust</a:t>
            </a:r>
          </a:p>
          <a:p>
            <a:pPr lvl="1"/>
            <a:r>
              <a:t>❌ ANUMMER_02 bis ANUMMER_10 größtenteils NULL</a:t>
            </a:r>
          </a:p>
          <a:p>
            <a:pPr lvl="1"/>
            <a:r>
              <a:t>❌ Hohe Dimensionalität mit vielen Leereinträgen</a:t>
            </a:r>
          </a:p>
          <a:p>
            <a:pPr/>
            <a:r>
              <a:t>Feature Engineering - Optimierungsansatz:</a:t>
            </a:r>
          </a:p>
          <a:p>
            <a:pPr lvl="1"/>
            <a:r>
              <a:t>✓ Zusammenführung zu ANUMMER_LIST (aggregiert)</a:t>
            </a:r>
          </a:p>
          <a:p>
            <a:pPr lvl="1"/>
            <a:r>
              <a:t>✓ Reduzierung der Dimensionalität (10→1 Attribut)</a:t>
            </a:r>
          </a:p>
          <a:p>
            <a:pPr lvl="1"/>
            <a:r>
              <a:t>✓ Bessere Datenqualität für ML-Algorithmen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Modellauswahl und Training (CRISP-DM: Modeling)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Implementierung: KNIME Analytics Platform</a:t>
            </a:r>
          </a:p>
          <a:p>
            <a:pPr/>
            <a:r>
              <a:t>Trainingsmethode: Holdout-Methode</a:t>
            </a:r>
          </a:p>
          <a:p>
            <a:pPr lvl="1"/>
            <a:r>
              <a:t>80% Trainingsdaten (24.000 Datensätze)</a:t>
            </a:r>
          </a:p>
          <a:p>
            <a:pPr lvl="1"/>
            <a:r>
              <a:t>20% Testdaten (6.000 Datensätze)</a:t>
            </a:r>
          </a:p>
          <a:p>
            <a:pPr/>
            <a:r>
              <a:t>Drei Klassifikationsverfahren (Überwachtes Lernen):</a:t>
            </a:r>
          </a:p>
          <a:p>
            <a:pPr lvl="1"/>
            <a:r>
              <a:t>1. Decision Tree (Entscheidungsbaum, Gini Index)</a:t>
            </a:r>
          </a:p>
          <a:p>
            <a:pPr lvl="2"/>
            <a:r>
              <a:t>Trennscharfe Entscheidungsregeln</a:t>
            </a:r>
          </a:p>
          <a:p>
            <a:pPr lvl="1"/>
            <a:r>
              <a:t>2. Logistic Regression (Logistische Regression)</a:t>
            </a:r>
          </a:p>
          <a:p>
            <a:pPr lvl="2"/>
            <a:r>
              <a:t>Lineare Trennung der Klassen</a:t>
            </a:r>
          </a:p>
          <a:p>
            <a:pPr lvl="1"/>
            <a:r>
              <a:t>3. Naive Bayes Classifier</a:t>
            </a:r>
          </a:p>
          <a:p>
            <a:pPr lvl="2"/>
            <a:r>
              <a:t>Probabilistischer Ansatz, bedingte Wahrscheinlichkeiten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Modellbewertung (CRISP-DM: Evaluation)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Bewertung mit Konfusionsmatrix:</a:t>
            </a:r>
          </a:p>
          <a:p>
            <a:pPr lvl="1"/>
            <a:r>
              <a:t>True Positive (TP): Betrug korrekt als Betrug erkannt</a:t>
            </a:r>
          </a:p>
          <a:p>
            <a:pPr lvl="1"/>
            <a:r>
              <a:t>True Negative (TN): Kein Betrug korrekt als legitim erkannt</a:t>
            </a:r>
          </a:p>
          <a:p>
            <a:pPr lvl="1"/>
            <a:r>
              <a:t>False Positive (FP): Legitim fälschlich als Betrug erkannt</a:t>
            </a:r>
          </a:p>
          <a:p>
            <a:pPr lvl="1"/>
            <a:r>
              <a:t>False Negative (FN): Betrug fälschlich als legitim erkannt</a:t>
            </a:r>
          </a:p>
          <a:p>
            <a:pPr/>
            <a:r>
              <a:t>Gütekriterien:</a:t>
            </a:r>
          </a:p>
          <a:p>
            <a:pPr lvl="1"/>
            <a:r>
              <a:t>Accuracy = (TP+TN) / Gesamt</a:t>
            </a:r>
          </a:p>
          <a:p>
            <a:pPr lvl="2"/>
            <a:r>
              <a:t>Gesamtgenauigkeit aller Vorhersagen</a:t>
            </a:r>
          </a:p>
          <a:p>
            <a:pPr lvl="1"/>
            <a:r>
              <a:t>Precision = TP / (TP+FP)</a:t>
            </a:r>
          </a:p>
          <a:p>
            <a:pPr lvl="2"/>
            <a:r>
              <a:t>Wie viele Betrugsvorhersagen waren korrekt?</a:t>
            </a:r>
          </a:p>
          <a:p>
            <a:pPr lvl="1"/>
            <a:r>
              <a:t>Recall = TP / (TP+FN)</a:t>
            </a:r>
          </a:p>
          <a:p>
            <a:pPr lvl="2"/>
            <a:r>
              <a:t>Wie viele Betrugsfälle wurden erkannt?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5a. Decision Tree - Confusion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Predicted: nein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Predicted: ja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/>
                        <a:t>Actual: 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5466 (TN)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193 (FP)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/>
                        <a:t>Actual: 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300 (FN)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36 (TP)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5a. Decision Tree - Metriken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Berechnete Gütekriterien:</a:t>
            </a:r>
          </a:p>
          <a:p>
            <a:pPr lvl="1"/>
            <a:r>
              <a:t>Accuracy: 91,78% = (5466+36) / 6000</a:t>
            </a:r>
          </a:p>
          <a:p>
            <a:pPr lvl="1"/>
            <a:r>
              <a:t>Precision: 15,72% = 36 / (36+193)</a:t>
            </a:r>
          </a:p>
          <a:p>
            <a:pPr lvl="1"/>
            <a:r>
              <a:t>Recall: 9,33% = 36 / (36+300)</a:t>
            </a:r>
          </a:p>
          <a:p>
            <a:pPr/>
            <a:r>
              <a:t>Interpretation:</a:t>
            </a:r>
          </a:p>
          <a:p>
            <a:pPr lvl="1"/>
            <a:r>
              <a:t>✓ Erkennt tatsächlich Betrugsfälle (36 TP)</a:t>
            </a:r>
          </a:p>
          <a:p>
            <a:pPr lvl="1"/>
            <a:r>
              <a:t>✓ Besser als "immer nein" Baseline</a:t>
            </a:r>
          </a:p>
          <a:p>
            <a:pPr lvl="1"/>
            <a:r>
              <a:t>⚠ Hohe False-Positive Rate (193 Fehlalarme)</a:t>
            </a:r>
          </a:p>
          <a:p>
            <a:pPr lvl="1"/>
            <a:r>
              <a:t>⚠ Niedriger Recall (300 FN, 89% nicht erkannt)</a:t>
            </a:r>
          </a:p>
          <a:p>
            <a:pPr/>
            <a:r>
              <a:t>Bewertung: Einziges Modell mit relevantem Recall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5b. Logistic Regression - Ergebnisse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Confusion Matrix:</a:t>
            </a:r>
          </a:p>
          <a:p>
            <a:pPr lvl="1"/>
            <a:r>
              <a:t>TN: 5666, FP: 0, FN: 336, TP: 0</a:t>
            </a:r>
          </a:p>
          <a:p>
            <a:pPr lvl="1"/>
            <a:r>
              <a:t>Alle Vorhersagen: "nein" (kein Betrug)</a:t>
            </a:r>
          </a:p>
          <a:p>
            <a:pPr/>
            <a:r>
              <a:t>Berechnete Metriken:</a:t>
            </a:r>
          </a:p>
          <a:p>
            <a:pPr lvl="1"/>
            <a:r>
              <a:t>Accuracy: 94,40% = 5666 / 6000</a:t>
            </a:r>
          </a:p>
          <a:p>
            <a:pPr lvl="1"/>
            <a:r>
              <a:t>Precision: 0% (keine Betrugsvorhersagen)</a:t>
            </a:r>
          </a:p>
          <a:p>
            <a:pPr lvl="1"/>
            <a:r>
              <a:t>Recall: 0% = 0 / 336 (alle Betrugsfälle übersehen)</a:t>
            </a:r>
          </a:p>
          <a:p>
            <a:pPr/>
            <a:r>
              <a:t>❌ Fazit: Modell unbrauchbar für Betrugserkennung</a:t>
            </a:r>
          </a:p>
          <a:p>
            <a:pPr lvl="1"/>
            <a:r>
              <a:t>Paradox: Hohe Accuracy durch Class Imbalance</a:t>
            </a:r>
          </a:p>
          <a:p>
            <a:pPr lvl="1"/>
            <a:r>
              <a:t>Modell hat aus Unbalance gelernt, immer "nein" zu sagen</a:t>
            </a:r>
          </a:p>
          <a:p>
            <a:pPr lvl="1"/>
            <a:r>
              <a:t>Kein einziger Betrugsfall erkannt (0 TP)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5c. Naive Bayes - Ergebnisse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Confusion Matrix:</a:t>
            </a:r>
          </a:p>
          <a:p>
            <a:pPr lvl="1"/>
            <a:r>
              <a:t>TN: 5663, FP: 3, FN: 333, TP: 3</a:t>
            </a:r>
          </a:p>
          <a:p>
            <a:pPr/>
            <a:r>
              <a:t>Berechnete Metriken:</a:t>
            </a:r>
          </a:p>
          <a:p>
            <a:pPr lvl="1"/>
            <a:r>
              <a:t>Accuracy: 94,44% = (5663+3) / 6000</a:t>
            </a:r>
          </a:p>
          <a:p>
            <a:pPr lvl="1"/>
            <a:r>
              <a:t>Precision: 50,00% = 3 / (3+3)</a:t>
            </a:r>
          </a:p>
          <a:p>
            <a:pPr lvl="1"/>
            <a:r>
              <a:t>Recall: 0,89% = 3 / (3+333)</a:t>
            </a:r>
          </a:p>
          <a:p>
            <a:pPr/>
            <a:r>
              <a:t>Bewertung:</a:t>
            </a:r>
          </a:p>
          <a:p>
            <a:pPr lvl="1"/>
            <a:r>
              <a:t>✓ Hohe Precision bei Betrugsvorhersagen (50%)</a:t>
            </a:r>
          </a:p>
          <a:p>
            <a:pPr lvl="1"/>
            <a:r>
              <a:t>✓ Sehr wenig Fehlalarme (nur 3 FP)</a:t>
            </a:r>
          </a:p>
          <a:p>
            <a:pPr lvl="1"/>
            <a:r>
              <a:t>❌ Extrem niedriger Recall (0,89%)</a:t>
            </a:r>
          </a:p>
          <a:p>
            <a:pPr lvl="1"/>
            <a:r>
              <a:t>❌ Erkennt fast keine Betrugsfälle (nur 3 von 336)</a:t>
            </a:r>
          </a:p>
          <a:p>
            <a:pPr/>
            <a:r>
              <a:t>Fazit: Zu konservativ, praktisch unbrauchbar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5d. Vergleichende Modellbewertung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1188720"/>
                <a:gridCol w="1188720"/>
                <a:gridCol w="731520"/>
                <a:gridCol w="1828800"/>
              </a:tblGrid>
              <a:tr h="7315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Bewertung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91,78%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15,72%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9,33%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⭐ GEWÄHLT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94,40%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❌ Unbrauchbar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/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94,44%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0,89%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⚠ Zu konservativ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5e. Maßnahmen zur Ergebnisverbesserung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Hauptproblem: Class Imbalance (5,82% Betrug)</a:t>
            </a:r>
          </a:p>
          <a:p>
            <a:pPr/>
            <a:r>
              <a:t>Resampling-Techniken:</a:t>
            </a:r>
          </a:p>
          <a:p>
            <a:pPr lvl="1"/>
            <a:r>
              <a:t>Undersampling: Reduzierung der Mehrheitsklasse</a:t>
            </a:r>
          </a:p>
          <a:p>
            <a:pPr lvl="2"/>
            <a:r>
              <a:t>Zufällige Auswahl von legitimen Bestellungen</a:t>
            </a:r>
          </a:p>
          <a:p>
            <a:pPr lvl="1"/>
            <a:r>
              <a:t>SMOTE (Synthetic Minority Over-sampling Technique)</a:t>
            </a:r>
          </a:p>
          <a:p>
            <a:pPr lvl="2"/>
            <a:r>
              <a:t>Synthetische Generierung zusätzlicher Betrugsfälle</a:t>
            </a:r>
          </a:p>
          <a:p>
            <a:pPr/>
            <a:r>
              <a:t>Algorithmus-Optimierung:</a:t>
            </a:r>
          </a:p>
          <a:p>
            <a:pPr lvl="1"/>
            <a:r>
              <a:t>Hyperparameter-Tuning (Complexity_Penalty, Minimum_Support)</a:t>
            </a:r>
          </a:p>
          <a:p>
            <a:pPr lvl="1"/>
            <a:r>
              <a:t>Cost-Sensitive Learning (höhere Kosten für FN)</a:t>
            </a:r>
          </a:p>
          <a:p>
            <a:pPr/>
            <a:r>
              <a:t>Weitere Ansätze:</a:t>
            </a:r>
          </a:p>
          <a:p>
            <a:pPr lvl="1"/>
            <a:r>
              <a:t>Ensemble-Methoden (Random Forest, XGBoost)</a:t>
            </a:r>
          </a:p>
          <a:p>
            <a:pPr lvl="1"/>
            <a:r>
              <a:t>Feature Engineering (ANUMMER_LIST verwenden)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Vorhersage (CRISP-DM: Deployment)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Gewähltes Modell für Produktivbetrieb:</a:t>
            </a:r>
          </a:p>
          <a:p>
            <a:pPr lvl="1"/>
            <a:r>
              <a:t>✓ Decision Tree (Entscheidungsbaum)</a:t>
            </a:r>
          </a:p>
          <a:p>
            <a:pPr/>
            <a:r>
              <a:t>Begründung der Auswahl:</a:t>
            </a:r>
          </a:p>
          <a:p>
            <a:pPr lvl="1"/>
            <a:r>
              <a:t>Einziges Modell mit relevantem Recall (9,33%)</a:t>
            </a:r>
          </a:p>
          <a:p>
            <a:pPr lvl="1"/>
            <a:r>
              <a:t>Erkennt tatsächlich Betrugsfälle (36 TP)</a:t>
            </a:r>
          </a:p>
          <a:p>
            <a:pPr lvl="1"/>
            <a:r>
              <a:t>Trade-off: Niedrigere Accuracy, aber Betrugserkennnung</a:t>
            </a:r>
          </a:p>
          <a:p>
            <a:pPr/>
            <a:r>
              <a:t>Anwendung auf Klassifizierungsdaten:</a:t>
            </a:r>
          </a:p>
          <a:p>
            <a:pPr lvl="1"/>
            <a:r>
              <a:t>20.000 neue Bestellungen klassifiziert</a:t>
            </a:r>
          </a:p>
          <a:p>
            <a:pPr lvl="1"/>
            <a:r>
              <a:t>Datei: Klassifizierungsdaten-tree-predictions.csv</a:t>
            </a:r>
          </a:p>
          <a:p>
            <a:pPr/>
            <a:r>
              <a:t>Kritische Einschätzung:</a:t>
            </a:r>
          </a:p>
          <a:p>
            <a:pPr lvl="1"/>
            <a:r>
              <a:t>Performance noch verbesserungswürdig</a:t>
            </a:r>
          </a:p>
          <a:p>
            <a:pPr lvl="1"/>
            <a:r>
              <a:t>Optimierungsmaßnahmen empfohlen (Resampling, etc.)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Zusammenfassung und Ausblick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Zentrale Erkenntnisse:</a:t>
            </a:r>
          </a:p>
          <a:p>
            <a:pPr lvl="1"/>
            <a:r>
              <a:t>Class Imbalance größte Herausforderung bei Betrugserkennung</a:t>
            </a:r>
          </a:p>
          <a:p>
            <a:pPr lvl="1"/>
            <a:r>
              <a:t>Accuracy irreführend bei unbalancierten Daten</a:t>
            </a:r>
          </a:p>
          <a:p>
            <a:pPr lvl="1"/>
            <a:r>
              <a:t>Precision &amp; Recall entscheidende Gütekriterien</a:t>
            </a:r>
          </a:p>
          <a:p>
            <a:pPr lvl="1"/>
            <a:r>
              <a:t>CRISP-DM-Prozess systematisch durchgeführt</a:t>
            </a:r>
          </a:p>
          <a:p>
            <a:pPr/>
            <a:r>
              <a:t>Durchgeführte Schritte:</a:t>
            </a:r>
          </a:p>
          <a:p>
            <a:pPr lvl="1"/>
            <a:r>
              <a:t>✓ Data Understanding (Class Imbalance identifiziert)</a:t>
            </a:r>
          </a:p>
          <a:p>
            <a:pPr lvl="1"/>
            <a:r>
              <a:t>✓ Data Preparation (ANUMMER Feature Engineering)</a:t>
            </a:r>
          </a:p>
          <a:p>
            <a:pPr lvl="1"/>
            <a:r>
              <a:t>✓ Modeling (3 Klassifikationsverfahren trainiert)</a:t>
            </a:r>
          </a:p>
          <a:p>
            <a:pPr lvl="1"/>
            <a:r>
              <a:t>✓ Evaluation (Konfusionsmatrix, Metriken)</a:t>
            </a:r>
          </a:p>
          <a:p>
            <a:pPr lvl="1"/>
            <a:r>
              <a:t>✓ Deployment (Decision Tree für Vorhersage gewählt)</a:t>
            </a:r>
          </a:p>
          <a:p>
            <a:pPr/>
            <a:r>
              <a:t>Vielen Dank für Ihre Aufmerksamkeit!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